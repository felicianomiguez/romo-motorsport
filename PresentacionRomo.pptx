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jpeg"/><Relationship Id="rId9" Type="http://schemas.openxmlformats.org/officeDocument/2006/relationships/image" Target="../media/image-5-9.png"/><Relationship Id="rId10" Type="http://schemas.openxmlformats.org/officeDocument/2006/relationships/image" Target="../media/image-5-10.jpeg"/><Relationship Id="rId11" Type="http://schemas.openxmlformats.org/officeDocument/2006/relationships/image" Target="../media/image-5-11.jpeg"/><Relationship Id="rId12" Type="http://schemas.openxmlformats.org/officeDocument/2006/relationships/image" Target="../media/image-5-12.jpe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0" y="182880"/>
            <a:ext cx="3657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 TALLER, ATENDIENDO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CLIENTES 24/7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transformación digital para Romo Motorsport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Presentado por AutoAtención BA  |  Marzo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¿CUÁNTA PLATA ESTÁS DEJANDO EN LA MESA?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64008" cy="100584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34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12801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CONSULTAS FUERA DE HORARIO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16459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Llegan después de las 18hs. Si no respondés en 5 minutos, van al taller de al lado.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8229600" cy="10058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377440"/>
            <a:ext cx="64008" cy="100584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68%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286000" y="2468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ELIGEN AL QUE RESPONDE PRIMERO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competencia responde al instante con bots. Vos respondés cuando podés... si podés.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566160"/>
            <a:ext cx="64008" cy="100584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11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286000" y="3657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 WEB ESTÁ CAÍDA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86000" y="40233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romomotorsport.com.ar no funciona. Cuando te buscan en Google, no existís.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día sin presencia digital = clientes que van a tu competencia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¿CUÁNTO TE CUESTA NO HACER NADA?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perdés solo 5 clientes por mes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no responder a tiempo: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completo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21031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$180.000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5 clientes/mes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060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$900.000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12 meses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108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$10.800.000/año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4114800" cy="731520"/>
          </a:xfrm>
          <a:prstGeom prst="rect">
            <a:avLst/>
          </a:prstGeom>
          <a:solidFill>
            <a:srgbClr val="E53935">
              <a:alpha val="15000"/>
            </a:srgbClr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576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$10.800.000 al año en clientes perdidos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1188720"/>
            <a:ext cx="3749040" cy="320040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1280160"/>
            <a:ext cx="3566160" cy="2651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12064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taller merece más clientes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buena noticia: tiene solución, y es más simple de lo que pensás.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SOLUCIÓN: TU TALLER, SIEMPRE ONLINE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2011680" cy="274320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188720"/>
            <a:ext cx="2011680" cy="54864"/>
          </a:xfrm>
          <a:prstGeom prst="rect">
            <a:avLst/>
          </a:prstGeom>
          <a:solidFill>
            <a:srgbClr val="E5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2148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 PAGE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PROFESIONAL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Aparecés en Google cuando buscan 'mecánico cerca'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14600" y="1188720"/>
            <a:ext cx="2011680" cy="274320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514600" y="1188720"/>
            <a:ext cx="2011680" cy="54864"/>
          </a:xfrm>
          <a:prstGeom prst="rect">
            <a:avLst/>
          </a:prstGeom>
          <a:solidFill>
            <a:srgbClr val="25D36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6304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51760" y="2148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RECEPCIONISTA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 24/7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5176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Atiende WhatsApp, agenda turnos, nunca descansa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188720"/>
            <a:ext cx="2011680" cy="274320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54880" y="1188720"/>
            <a:ext cx="2011680" cy="54864"/>
          </a:xfrm>
          <a:prstGeom prst="rect">
            <a:avLst/>
          </a:prstGeom>
          <a:solidFill>
            <a:srgbClr val="FF6D0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6304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92040" y="2148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CONTENIDO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 IA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9204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Posts profesionales para Instagram y Facebook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95160" y="1188720"/>
            <a:ext cx="2011680" cy="274320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995160" y="1188720"/>
            <a:ext cx="2011680" cy="54864"/>
          </a:xfrm>
          <a:prstGeom prst="rect">
            <a:avLst/>
          </a:prstGeom>
          <a:solidFill>
            <a:srgbClr val="FFB30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46304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32320" y="2148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META ADS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13232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en Instagram/Facebook para tu zona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integrado. Sin que tengas que hacer nada.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A0A0A">
              <a:alpha val="9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 PAGE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PROFESIONAL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502920" cy="502920"/>
          </a:xfrm>
          <a:prstGeom prst="ellipse">
            <a:avLst/>
          </a:prstGeom>
          <a:solidFill>
            <a:srgbClr val="E53935">
              <a:alpha val="25000"/>
            </a:srgbClr>
          </a:solidFill>
          <a:ln w="12700">
            <a:solidFill>
              <a:srgbClr val="E5393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25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premium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automotriz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14600" y="1371600"/>
            <a:ext cx="502920" cy="502920"/>
          </a:xfrm>
          <a:prstGeom prst="ellipse">
            <a:avLst/>
          </a:prstGeom>
          <a:solidFill>
            <a:srgbClr val="25D366">
              <a:alpha val="25000"/>
            </a:srgbClr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4630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08960" y="1325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local: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aparecés en Google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5760" y="2514600"/>
            <a:ext cx="502920" cy="502920"/>
          </a:xfrm>
          <a:prstGeom prst="ellipse">
            <a:avLst/>
          </a:prstGeom>
          <a:solidFill>
            <a:srgbClr val="FF6D00">
              <a:alpha val="25000"/>
            </a:srgbClr>
          </a:solidFill>
          <a:ln w="12700">
            <a:solidFill>
              <a:srgbClr val="FF6D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060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2468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2 sucursales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Google Maps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2514600" y="2514600"/>
            <a:ext cx="502920" cy="502920"/>
          </a:xfrm>
          <a:prstGeom prst="ellipse">
            <a:avLst/>
          </a:prstGeom>
          <a:solidFill>
            <a:srgbClr val="25D366">
              <a:alpha val="25000"/>
            </a:srgbClr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6060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2468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WhatsApp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toda la página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365760" y="3657600"/>
            <a:ext cx="502920" cy="502920"/>
          </a:xfrm>
          <a:prstGeom prst="ellipse">
            <a:avLst/>
          </a:prstGeom>
          <a:solidFill>
            <a:srgbClr val="FFB300">
              <a:alpha val="25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749040"/>
            <a:ext cx="320040" cy="3200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6012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Galería con fotos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reales de TU taller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2514600" y="3657600"/>
            <a:ext cx="502920" cy="502920"/>
          </a:xfrm>
          <a:prstGeom prst="ellipse">
            <a:avLst/>
          </a:prstGeom>
          <a:solidFill>
            <a:srgbClr val="E53935">
              <a:alpha val="25000"/>
            </a:srgbClr>
          </a:solidFill>
          <a:ln w="12700">
            <a:solidFill>
              <a:srgbClr val="E53935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374904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310896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first: 80%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desde el celu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65760" y="4572000"/>
            <a:ext cx="4023360" cy="36576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25" name="Text 17"/>
          <p:cNvSpPr/>
          <p:nvPr/>
        </p:nvSpPr>
        <p:spPr>
          <a:xfrm>
            <a:off x="365760" y="4572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tus servicios con precios reales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5166360" y="182880"/>
            <a:ext cx="3566160" cy="4754880"/>
          </a:xfrm>
          <a:prstGeom prst="rect">
            <a:avLst/>
          </a:prstGeom>
          <a:solidFill>
            <a:srgbClr val="1A1A1A"/>
          </a:solidFill>
          <a:ln w="254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166360" y="182880"/>
            <a:ext cx="356616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Text 20"/>
          <p:cNvSpPr/>
          <p:nvPr/>
        </p:nvSpPr>
        <p:spPr>
          <a:xfrm>
            <a:off x="5303520" y="201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romomotorsport.com.ar</a:t>
            </a:r>
            <a:endParaRPr lang="en-US" sz="8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03520" y="502920"/>
            <a:ext cx="3291840" cy="182880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5303520" y="2331720"/>
            <a:ext cx="3291840" cy="2331720"/>
          </a:xfrm>
          <a:prstGeom prst="rect">
            <a:avLst/>
          </a:prstGeom>
          <a:solidFill>
            <a:srgbClr val="0A0A0A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5040" y="2468880"/>
            <a:ext cx="1828800" cy="548640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5440680" y="3154680"/>
            <a:ext cx="713232" cy="457200"/>
          </a:xfrm>
          <a:prstGeom prst="rect">
            <a:avLst/>
          </a:prstGeom>
          <a:solidFill>
            <a:srgbClr val="1E1E1E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440680" y="31546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</a:t>
            </a:r>
            <a:endParaRPr lang="en-US" sz="700" dirty="0"/>
          </a:p>
        </p:txBody>
      </p:sp>
      <p:sp>
        <p:nvSpPr>
          <p:cNvPr id="34" name="Shape 24"/>
          <p:cNvSpPr/>
          <p:nvPr/>
        </p:nvSpPr>
        <p:spPr>
          <a:xfrm>
            <a:off x="6236208" y="3154680"/>
            <a:ext cx="713232" cy="457200"/>
          </a:xfrm>
          <a:prstGeom prst="rect">
            <a:avLst/>
          </a:prstGeom>
          <a:solidFill>
            <a:srgbClr val="1E1E1E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236208" y="31546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Frenos</a:t>
            </a:r>
            <a:endParaRPr lang="en-US" sz="700" dirty="0"/>
          </a:p>
        </p:txBody>
      </p:sp>
      <p:sp>
        <p:nvSpPr>
          <p:cNvPr id="36" name="Shape 26"/>
          <p:cNvSpPr/>
          <p:nvPr/>
        </p:nvSpPr>
        <p:spPr>
          <a:xfrm>
            <a:off x="7031736" y="3154680"/>
            <a:ext cx="713232" cy="457200"/>
          </a:xfrm>
          <a:prstGeom prst="rect">
            <a:avLst/>
          </a:prstGeom>
          <a:solidFill>
            <a:srgbClr val="1E1E1E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7031736" y="31546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Scanner</a:t>
            </a:r>
            <a:endParaRPr lang="en-US" sz="700" dirty="0"/>
          </a:p>
        </p:txBody>
      </p:sp>
      <p:sp>
        <p:nvSpPr>
          <p:cNvPr id="38" name="Shape 28"/>
          <p:cNvSpPr/>
          <p:nvPr/>
        </p:nvSpPr>
        <p:spPr>
          <a:xfrm>
            <a:off x="7827264" y="3154680"/>
            <a:ext cx="713232" cy="457200"/>
          </a:xfrm>
          <a:prstGeom prst="rect">
            <a:avLst/>
          </a:prstGeom>
          <a:solidFill>
            <a:srgbClr val="1E1E1E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827264" y="31546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Neumáticos</a:t>
            </a:r>
            <a:endParaRPr lang="en-US" sz="700" dirty="0"/>
          </a:p>
        </p:txBody>
      </p:sp>
      <p:sp>
        <p:nvSpPr>
          <p:cNvPr id="40" name="Shape 30"/>
          <p:cNvSpPr/>
          <p:nvPr/>
        </p:nvSpPr>
        <p:spPr>
          <a:xfrm>
            <a:off x="5852160" y="3794760"/>
            <a:ext cx="2194560" cy="320040"/>
          </a:xfrm>
          <a:prstGeom prst="rect">
            <a:avLst/>
          </a:prstGeom>
          <a:solidFill>
            <a:srgbClr val="25D366"/>
          </a:solidFill>
          <a:ln/>
        </p:spPr>
      </p:sp>
      <p:sp>
        <p:nvSpPr>
          <p:cNvPr id="41" name="Text 31"/>
          <p:cNvSpPr/>
          <p:nvPr/>
        </p:nvSpPr>
        <p:spPr>
          <a:xfrm>
            <a:off x="585216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PEDIR TURNO</a:t>
            </a:r>
            <a:endParaRPr lang="en-US" sz="800" dirty="0"/>
          </a:p>
        </p:txBody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5440680" y="4251960"/>
            <a:ext cx="1005840" cy="548640"/>
          </a:xfrm>
          <a:prstGeom prst="rect">
            <a:avLst/>
          </a:prstGeom>
        </p:spPr>
      </p:pic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37960" y="4251960"/>
            <a:ext cx="1005840" cy="548640"/>
          </a:xfrm>
          <a:prstGeom prst="rect">
            <a:avLst/>
          </a:prstGeom>
        </p:spPr>
      </p:pic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635240" y="4251960"/>
            <a:ext cx="82296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D36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RECEPCIONISTA IA 24/7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0"/>
          </a:xfrm>
          <a:prstGeom prst="rect">
            <a:avLst/>
          </a:prstGeom>
          <a:solidFill>
            <a:srgbClr val="0B141A"/>
          </a:solidFill>
          <a:ln w="12700">
            <a:solidFill>
              <a:srgbClr val="1F2C3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4114800" cy="411480"/>
          </a:xfrm>
          <a:prstGeom prst="rect">
            <a:avLst/>
          </a:prstGeom>
          <a:solidFill>
            <a:srgbClr val="1F2C3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Romo Motorsport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0" y="1051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línea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508760" y="1554480"/>
            <a:ext cx="2926080" cy="320040"/>
          </a:xfrm>
          <a:prstGeom prst="rect">
            <a:avLst/>
          </a:prstGeom>
          <a:solidFill>
            <a:srgbClr val="005C4B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157276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Hola, ¿hacen service para Audi A3?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1965960"/>
            <a:ext cx="3291840" cy="786384"/>
          </a:xfrm>
          <a:prstGeom prst="rect">
            <a:avLst/>
          </a:prstGeom>
          <a:solidFill>
            <a:srgbClr val="1F2C3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98424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¡Hola! Sí, trabajamos con Audi.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service completo está $180.000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incluye aceite + filtros + revisión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25 puntos. ¿Querés agendar?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2926080" cy="320040"/>
          </a:xfrm>
          <a:prstGeom prst="rect">
            <a:avLst/>
          </a:prstGeom>
          <a:solidFill>
            <a:srgbClr val="005C4B"/>
          </a:solidFill>
          <a:ln/>
        </p:spPr>
      </p:sp>
      <p:sp>
        <p:nvSpPr>
          <p:cNvPr id="13" name="Text 11"/>
          <p:cNvSpPr/>
          <p:nvPr/>
        </p:nvSpPr>
        <p:spPr>
          <a:xfrm>
            <a:off x="1600200" y="289864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Sí, ¿tienen turno el sábado?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3291840" cy="630936"/>
          </a:xfrm>
          <a:prstGeom prst="rect">
            <a:avLst/>
          </a:prstGeom>
          <a:solidFill>
            <a:srgbClr val="1F2C3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26440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¡Tenemos! Sábado 9:30 o 11:00.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te queda mejor? Te mando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ubicación de la sucursal.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508760" y="3931920"/>
            <a:ext cx="2926080" cy="320040"/>
          </a:xfrm>
          <a:prstGeom prst="rect">
            <a:avLst/>
          </a:prstGeom>
          <a:solidFill>
            <a:srgbClr val="005C4B"/>
          </a:solidFill>
          <a:ln/>
        </p:spPr>
      </p:sp>
      <p:sp>
        <p:nvSpPr>
          <p:cNvPr id="17" name="Text 15"/>
          <p:cNvSpPr/>
          <p:nvPr/>
        </p:nvSpPr>
        <p:spPr>
          <a:xfrm>
            <a:off x="1600200" y="395020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11hs dale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3291840" cy="630936"/>
          </a:xfrm>
          <a:prstGeom prst="rect">
            <a:avLst/>
          </a:prstGeom>
          <a:solidFill>
            <a:srgbClr val="1F2C34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17880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¡Listo! Turno confirmado sábado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11:00. Te espero en Ulrico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Schmidl 6784, Mataderos.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hace el bot por vos?</a:t>
            </a:r>
            <a:endParaRPr lang="en-US" sz="1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45920"/>
            <a:ext cx="256032" cy="25603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34924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Atiende WhatsApp día y noche</a:t>
            </a:r>
            <a:endParaRPr lang="en-US" sz="12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103120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349240" y="2057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precios y servicios</a:t>
            </a:r>
            <a:endParaRPr lang="en-US" sz="12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560320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3492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turnos automáticamente</a:t>
            </a:r>
            <a:endParaRPr lang="en-US" sz="12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017520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34924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Envía ubicación de las 2 sucursales</a:t>
            </a:r>
            <a:endParaRPr lang="en-US" sz="12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474720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349240" y="3429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 al humano si es necesario</a:t>
            </a:r>
            <a:endParaRPr lang="en-US" sz="12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931920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4924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 como vos, no como robot</a:t>
            </a:r>
            <a:endParaRPr lang="en-US" sz="12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4389120"/>
            <a:ext cx="256032" cy="25603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349240" y="4343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pierde una consulta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6D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CONTENIDO CON IA + META ADS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47472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4864"/>
          </a:xfrm>
          <a:prstGeom prst="rect">
            <a:avLst/>
          </a:prstGeom>
          <a:solidFill>
            <a:srgbClr val="FF6D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234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CREACIÓN DE CONTENIDO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7830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Posts profesionales con IA para Instagram</a:t>
            </a:r>
            <a:endParaRPr lang="en-US" sz="11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12848"/>
            <a:ext cx="182880" cy="182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16712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Diseños con fotos reales de tu taller</a:t>
            </a:r>
            <a:endParaRPr lang="en-US" sz="11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59689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25511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Calendario de publicaciones mensual</a:t>
            </a:r>
            <a:endParaRPr lang="en-US" sz="11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80944"/>
            <a:ext cx="182880" cy="1828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29352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que generan consultas</a:t>
            </a:r>
            <a:endParaRPr lang="en-US" sz="115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64992"/>
            <a:ext cx="182880" cy="1828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9601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Adaptado a tu marca y estilo</a:t>
            </a:r>
            <a:endParaRPr lang="en-US" sz="115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749040"/>
            <a:ext cx="182880" cy="18288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60120" y="37033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Imágenes de alta calidad con IA</a:t>
            </a:r>
            <a:endParaRPr lang="en-US" sz="1150" dirty="0"/>
          </a:p>
        </p:txBody>
      </p:sp>
      <p:sp>
        <p:nvSpPr>
          <p:cNvPr id="20" name="Shape 11"/>
          <p:cNvSpPr/>
          <p:nvPr/>
        </p:nvSpPr>
        <p:spPr>
          <a:xfrm>
            <a:off x="4754880" y="1005840"/>
            <a:ext cx="4023360" cy="347472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2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FFB300"/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1234440"/>
            <a:ext cx="365760" cy="3657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532120" y="1234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META ADS LOCALES</a:t>
            </a:r>
            <a:endParaRPr lang="en-US" sz="14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1828800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349240" y="17830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en Instagram y Facebook</a:t>
            </a:r>
            <a:endParaRPr lang="en-US" sz="115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2212848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349240" y="216712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por zona (Mataderos/Liniers)</a:t>
            </a:r>
            <a:endParaRPr lang="en-US" sz="115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0" y="2596896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5349240" y="25511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Anuncios que aparecen a conductores cercanos</a:t>
            </a:r>
            <a:endParaRPr lang="en-US" sz="1150" dirty="0"/>
          </a:p>
        </p:txBody>
      </p:sp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2980944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349240" y="29352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Remarketing a quienes visitaron tu web</a:t>
            </a:r>
            <a:endParaRPr lang="en-US" sz="1150" dirty="0"/>
          </a:p>
        </p:txBody>
      </p:sp>
      <p:pic>
        <p:nvPicPr>
          <p:cNvPr id="3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29200" y="3364992"/>
            <a:ext cx="182880" cy="182880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534924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Reportes mensuales de rendimiento</a:t>
            </a:r>
            <a:endParaRPr lang="en-US" sz="1150" dirty="0"/>
          </a:p>
        </p:txBody>
      </p:sp>
      <p:pic>
        <p:nvPicPr>
          <p:cNvPr id="3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29200" y="3749040"/>
            <a:ext cx="182880" cy="182880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5349240" y="37033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continua del presupuesto</a:t>
            </a:r>
            <a:endParaRPr lang="en-US" sz="1150" dirty="0"/>
          </a:p>
        </p:txBody>
      </p:sp>
      <p:sp>
        <p:nvSpPr>
          <p:cNvPr id="36" name="Text 20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competencia ya está en redes. Vos también tenés que estar.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RESULTADOS PODÉS ESPERAR?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2011680" cy="2011680"/>
          </a:xfrm>
          <a:prstGeom prst="rect">
            <a:avLst/>
          </a:prstGeom>
          <a:solidFill>
            <a:srgbClr val="161616"/>
          </a:solidFill>
          <a:ln w="254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+20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CONSULTAS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NUEVAS/MES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188720"/>
            <a:ext cx="2011680" cy="2011680"/>
          </a:xfrm>
          <a:prstGeom prst="rect">
            <a:avLst/>
          </a:prstGeom>
          <a:solidFill>
            <a:srgbClr val="161616"/>
          </a:solidFill>
          <a:ln w="25400">
            <a:solidFill>
              <a:srgbClr val="E5393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1460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51460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TURNOS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AGENDADOS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2011680" cy="2011680"/>
          </a:xfrm>
          <a:prstGeom prst="rect">
            <a:avLst/>
          </a:prstGeom>
          <a:solidFill>
            <a:srgbClr val="161616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$1.4M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75488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FACTURACIÓN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ADICIONAL/MES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95160" y="1188720"/>
            <a:ext cx="2011680" cy="2011680"/>
          </a:xfrm>
          <a:prstGeom prst="rect">
            <a:avLst/>
          </a:prstGeom>
          <a:solidFill>
            <a:srgbClr val="161616"/>
          </a:solidFill>
          <a:ln w="25400">
            <a:solidFill>
              <a:srgbClr val="FF6D0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951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24/7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99516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ATENCIÓN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 PARAR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661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CÁLCULO REAL PARA ROMO MOTORSPORT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turnos nuevos × $180.000 (service promedio) = </a:t>
            </a:r>
            <a:pPr indent="0" marL="0">
              <a:buNone/>
            </a:pPr>
            <a:r>
              <a:rPr lang="en-US" sz="13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$1.440.000/mes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mensual: ~$200 USD ≈ $240.000  →  </a:t>
            </a:r>
            <a:pPr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ROI: 6x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¿CÓMO LO IMPLEMENTAMOS?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no tenés que hacer nada técnico. Nosotros nos encargamos de todo.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36576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417320"/>
            <a:ext cx="594360" cy="594360"/>
          </a:xfrm>
          <a:prstGeom prst="ellipse">
            <a:avLst/>
          </a:prstGeom>
          <a:solidFill>
            <a:srgbClr val="E5393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5087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DÍA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089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KICKOFF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0" y="167335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hacemos unas preguntas sobre tu negocio, servicios y precios. Tomamos las fotos que necesitamos. Nada más.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234440" y="2743200"/>
            <a:ext cx="36576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1" name="Shape 8"/>
          <p:cNvSpPr/>
          <p:nvPr/>
        </p:nvSpPr>
        <p:spPr>
          <a:xfrm>
            <a:off x="960120" y="2286000"/>
            <a:ext cx="594360" cy="594360"/>
          </a:xfrm>
          <a:prstGeom prst="ellipse">
            <a:avLst/>
          </a:prstGeom>
          <a:solidFill>
            <a:srgbClr val="FF6D0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774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28800" y="2240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DÍA 2-3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108960" y="2240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 ONLINE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828800" y="25420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Diseñamos y publicamos tu landing page con todas las fotos, servicios, precios y ubicaciones.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1234440" y="3611880"/>
            <a:ext cx="36576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7" name="Shape 13"/>
          <p:cNvSpPr/>
          <p:nvPr/>
        </p:nvSpPr>
        <p:spPr>
          <a:xfrm>
            <a:off x="960120" y="3154680"/>
            <a:ext cx="594360" cy="594360"/>
          </a:xfrm>
          <a:prstGeom prst="ellipse">
            <a:avLst/>
          </a:prstGeom>
          <a:solidFill>
            <a:srgbClr val="25D36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2461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82880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DÍA 3-5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10896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BOT ACTIVO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828800" y="341071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Configuramos el recepcionista IA con tus datos. Lo entrenamos con tus preguntas frecuentes y lo conectamos a tu WhatsApp.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60120" y="4023360"/>
            <a:ext cx="594360" cy="594360"/>
          </a:xfrm>
          <a:prstGeom prst="ellipse">
            <a:avLst/>
          </a:prstGeom>
          <a:solidFill>
            <a:srgbClr val="FFB30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148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28800" y="3977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DÍA 7+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3108960" y="3977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CONTENIDO + ADS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1828800" y="42793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Arrancamos a publicar contenido en tus redes y lanzamos campañas de Meta Ads apuntando a tu zona.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solidFill>
            <a:srgbClr val="25D366">
              <a:alpha val="15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1 semana tenés todo funcionando. Sin complicaciones.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¿CUÁNDO VEO RESULTADOS?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77724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SEMANA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35331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página aparece en Google. El bot empieza a atender consultas. Vas a ver los primeros mensajes automatizados.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65960"/>
            <a:ext cx="54864" cy="777240"/>
          </a:xfrm>
          <a:prstGeom prst="rect">
            <a:avLst/>
          </a:prstGeom>
          <a:solidFill>
            <a:srgbClr val="FF6D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SEMANA 2-4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Primeros turnos agendados por el bot. Posts en redes generando consultas. Las primeras campañas de Meta Ads llegan a conductores en tu zona.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926080"/>
            <a:ext cx="54864" cy="777240"/>
          </a:xfrm>
          <a:prstGeom prst="rect">
            <a:avLst/>
          </a:prstGeom>
          <a:solidFill>
            <a:srgbClr val="25D36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71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7355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bot ya aprendió las preguntas más comunes. La página rankea en búsquedas locales. Empezás a notar más consultas que antes.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886200"/>
            <a:ext cx="54864" cy="7772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 3+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2336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constante de clientes nuevos. Reseñas positivas subiendo. Tu taller se posiciona como referente digital en la zona.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es magia — es tecnología aplicada a tu negocio. Y funciona.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INVERSIÓN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2743200" cy="3657600"/>
          </a:xfrm>
          <a:prstGeom prst="rect">
            <a:avLst/>
          </a:prstGeom>
          <a:solidFill>
            <a:srgbClr val="161616"/>
          </a:solidFill>
          <a:ln w="12700">
            <a:solidFill>
              <a:srgbClr val="B0B0B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960120"/>
            <a:ext cx="2743200" cy="54864"/>
          </a:xfrm>
          <a:prstGeom prst="rect">
            <a:avLst/>
          </a:prstGeom>
          <a:solidFill>
            <a:srgbClr val="B0B0B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B0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BÁSICO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300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único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2194560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240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100/mes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164592" cy="1645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6974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Recepcionista IA 24/7</a:t>
            </a:r>
            <a:endParaRPr lang="en-US" sz="10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164592" cy="1645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" y="3017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turnos WhatsApp</a:t>
            </a:r>
            <a:endParaRPr lang="en-US" sz="10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83280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1520" y="3337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precios y FAQs</a:t>
            </a:r>
            <a:endParaRPr lang="en-US" sz="10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03320"/>
            <a:ext cx="164592" cy="16459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3657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por email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3200400" y="822960"/>
            <a:ext cx="2743200" cy="3931920"/>
          </a:xfrm>
          <a:prstGeom prst="rect">
            <a:avLst/>
          </a:prstGeom>
          <a:solidFill>
            <a:srgbClr val="161616"/>
          </a:solidFill>
          <a:ln w="25400">
            <a:solidFill>
              <a:srgbClr val="E539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3200400" y="822960"/>
            <a:ext cx="2743200" cy="54864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20" name="Shape 14"/>
          <p:cNvSpPr/>
          <p:nvPr/>
        </p:nvSpPr>
        <p:spPr>
          <a:xfrm>
            <a:off x="3657600" y="594360"/>
            <a:ext cx="1828800" cy="27432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21" name="Text 15"/>
          <p:cNvSpPr/>
          <p:nvPr/>
        </p:nvSpPr>
        <p:spPr>
          <a:xfrm>
            <a:off x="3657600" y="594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RECOMENDADO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20040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539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ESTÁNDAR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3200400" y="1325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600</a:t>
            </a:r>
            <a:endParaRPr lang="en-US" sz="2800" dirty="0"/>
          </a:p>
        </p:txBody>
      </p:sp>
      <p:sp>
        <p:nvSpPr>
          <p:cNvPr id="24" name="Text 18"/>
          <p:cNvSpPr/>
          <p:nvPr/>
        </p:nvSpPr>
        <p:spPr>
          <a:xfrm>
            <a:off x="320040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único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474720" y="2057400"/>
            <a:ext cx="2194560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6" name="Text 20"/>
          <p:cNvSpPr/>
          <p:nvPr/>
        </p:nvSpPr>
        <p:spPr>
          <a:xfrm>
            <a:off x="320040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200/mes</a:t>
            </a:r>
            <a:endParaRPr lang="en-US" sz="16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06040"/>
            <a:ext cx="164592" cy="16459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657600" y="25603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del Básico +</a:t>
            </a:r>
            <a:endParaRPr lang="en-US" sz="10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2926080"/>
            <a:ext cx="164592" cy="16459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657600" y="28803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 profesional</a:t>
            </a:r>
            <a:endParaRPr lang="en-US" sz="10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246120"/>
            <a:ext cx="164592" cy="16459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3657600" y="3200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local en Google</a:t>
            </a:r>
            <a:endParaRPr lang="en-US" sz="10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3566160"/>
            <a:ext cx="164592" cy="164592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657600" y="3520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Galería con fotos reales</a:t>
            </a:r>
            <a:endParaRPr lang="en-US" sz="105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3280" y="3886200"/>
            <a:ext cx="164592" cy="16459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3657600" y="38404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ubicaciones con Maps</a:t>
            </a:r>
            <a:endParaRPr lang="en-US" sz="105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83280" y="4206240"/>
            <a:ext cx="164592" cy="164592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3657600" y="4160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prioritario</a:t>
            </a:r>
            <a:endParaRPr lang="en-US" sz="1050" dirty="0"/>
          </a:p>
        </p:txBody>
      </p:sp>
      <p:sp>
        <p:nvSpPr>
          <p:cNvPr id="39" name="Shape 27"/>
          <p:cNvSpPr/>
          <p:nvPr/>
        </p:nvSpPr>
        <p:spPr>
          <a:xfrm>
            <a:off x="6126480" y="960120"/>
            <a:ext cx="2743200" cy="3657600"/>
          </a:xfrm>
          <a:prstGeom prst="rect">
            <a:avLst/>
          </a:prstGeom>
          <a:solidFill>
            <a:srgbClr val="161616"/>
          </a:solidFill>
          <a:ln w="12700">
            <a:solidFill>
              <a:srgbClr val="FFB30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40" name="Shape 28"/>
          <p:cNvSpPr/>
          <p:nvPr/>
        </p:nvSpPr>
        <p:spPr>
          <a:xfrm>
            <a:off x="6126480" y="960120"/>
            <a:ext cx="274320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1" name="Text 29"/>
          <p:cNvSpPr/>
          <p:nvPr/>
        </p:nvSpPr>
        <p:spPr>
          <a:xfrm>
            <a:off x="612648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PREMIUM</a:t>
            </a:r>
            <a:endParaRPr lang="en-US" sz="1400" dirty="0"/>
          </a:p>
        </p:txBody>
      </p:sp>
      <p:sp>
        <p:nvSpPr>
          <p:cNvPr id="42" name="Text 30"/>
          <p:cNvSpPr/>
          <p:nvPr/>
        </p:nvSpPr>
        <p:spPr>
          <a:xfrm>
            <a:off x="6126480" y="1463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900</a:t>
            </a:r>
            <a:endParaRPr lang="en-US" sz="2800" dirty="0"/>
          </a:p>
        </p:txBody>
      </p:sp>
      <p:sp>
        <p:nvSpPr>
          <p:cNvPr id="43" name="Text 31"/>
          <p:cNvSpPr/>
          <p:nvPr/>
        </p:nvSpPr>
        <p:spPr>
          <a:xfrm>
            <a:off x="6126480" y="1874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único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6400800" y="2194560"/>
            <a:ext cx="2194560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45" name="Text 33"/>
          <p:cNvSpPr/>
          <p:nvPr/>
        </p:nvSpPr>
        <p:spPr>
          <a:xfrm>
            <a:off x="6126480" y="2240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 300/mes</a:t>
            </a:r>
            <a:endParaRPr lang="en-US" sz="1600" dirty="0"/>
          </a:p>
        </p:txBody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743200"/>
            <a:ext cx="164592" cy="164592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6583680" y="26974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del Estándar +</a:t>
            </a:r>
            <a:endParaRPr lang="en-US" sz="105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9360" y="3063240"/>
            <a:ext cx="164592" cy="164592"/>
          </a:xfrm>
          <a:prstGeom prst="rect">
            <a:avLst/>
          </a:prstGeom>
        </p:spPr>
      </p:pic>
      <p:sp>
        <p:nvSpPr>
          <p:cNvPr id="49" name="Text 35"/>
          <p:cNvSpPr/>
          <p:nvPr/>
        </p:nvSpPr>
        <p:spPr>
          <a:xfrm>
            <a:off x="6583680" y="3017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IA (posts)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383280"/>
            <a:ext cx="164592" cy="164592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6583680" y="3337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Ads management</a:t>
            </a:r>
            <a:endParaRPr lang="en-US" sz="1050" dirty="0"/>
          </a:p>
        </p:txBody>
      </p:sp>
      <p:pic>
        <p:nvPicPr>
          <p:cNvPr id="5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09360" y="3703320"/>
            <a:ext cx="164592" cy="164592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6583680" y="3657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Reseñas automáticas</a:t>
            </a:r>
            <a:endParaRPr lang="en-US" sz="1050" dirty="0"/>
          </a:p>
        </p:txBody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023360"/>
            <a:ext cx="164592" cy="164592"/>
          </a:xfrm>
          <a:prstGeom prst="rect">
            <a:avLst/>
          </a:prstGeom>
        </p:spPr>
      </p:pic>
      <p:sp>
        <p:nvSpPr>
          <p:cNvPr id="55" name="Text 38"/>
          <p:cNvSpPr/>
          <p:nvPr/>
        </p:nvSpPr>
        <p:spPr>
          <a:xfrm>
            <a:off x="6583680" y="3977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</a:t>
            </a:r>
            <a:endParaRPr lang="en-US" sz="1050" dirty="0"/>
          </a:p>
        </p:txBody>
      </p:sp>
      <p:pic>
        <p:nvPicPr>
          <p:cNvPr id="5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09360" y="4343400"/>
            <a:ext cx="164592" cy="164592"/>
          </a:xfrm>
          <a:prstGeom prst="rect">
            <a:avLst/>
          </a:prstGeom>
        </p:spPr>
      </p:pic>
      <p:sp>
        <p:nvSpPr>
          <p:cNvPr id="57" name="Text 39"/>
          <p:cNvSpPr/>
          <p:nvPr/>
        </p:nvSpPr>
        <p:spPr>
          <a:xfrm>
            <a:off x="6583680" y="42976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manager dedicado</a:t>
            </a:r>
            <a:endParaRPr lang="en-US" sz="1050" dirty="0"/>
          </a:p>
        </p:txBody>
      </p:sp>
      <p:sp>
        <p:nvSpPr>
          <p:cNvPr id="58" name="Text 4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mínimo 3 meses. Después seguís mes a mes. Garantía de satisfacción.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¿CÓMO SE PAGA?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ESTRUCTURA DE PAGO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57200" cy="457200"/>
          </a:xfrm>
          <a:prstGeom prst="ellipse">
            <a:avLst/>
          </a:prstGeom>
          <a:solidFill>
            <a:srgbClr val="25D36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Setup único al confirmar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Pagás el setup y arrancamos a trabajar. En 7 días tenés todo funcionando.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7512" y="1920240"/>
            <a:ext cx="36576" cy="5943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FF6D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Cuota mensual desde el mes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788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paga por adelantado cada mes. El primer mes arranca cuando tu página esté online.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" y="2971800"/>
            <a:ext cx="36576" cy="5943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3520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Compromiso mínimo: 3 meses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840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tiempo mínimo para ver resultados reales. Después, seguís mes a mes sin permanencia.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914400"/>
            <a:ext cx="3931920" cy="3291840"/>
          </a:xfrm>
          <a:prstGeom prst="rect">
            <a:avLst/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914400"/>
            <a:ext cx="393192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1097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MÉTODOS DE PAGO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3566160" cy="54864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669280" y="1709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Transferencia bancaria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0" y="1965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argentinos (ARS) — CBU/alias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029200" y="2423160"/>
            <a:ext cx="3566160" cy="54864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514600"/>
            <a:ext cx="365760" cy="36576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669280" y="2441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MercadoPago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56692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Tarjeta de crédito, débito o saldo MP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25D366">
              <a:alpha val="15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Garantía de satisfacción  •  Contrato claro  •  Sin letra chica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0" y="182880"/>
            <a:ext cx="365760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PRÓXIMOS PASOS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2743200" y="2286000"/>
            <a:ext cx="457200" cy="457200"/>
          </a:xfrm>
          <a:prstGeom prst="ellipse">
            <a:avLst/>
          </a:prstGeom>
          <a:solidFill>
            <a:srgbClr val="E53935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3832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Elegís tu plan y arrancamos hoy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2743200" y="2880360"/>
            <a:ext cx="457200" cy="457200"/>
          </a:xfrm>
          <a:prstGeom prst="ellipse">
            <a:avLst/>
          </a:prstGeom>
          <a:solidFill>
            <a:srgbClr val="FF6D0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38328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48hs tu página está online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43200" y="3474720"/>
            <a:ext cx="457200" cy="457200"/>
          </a:xfrm>
          <a:prstGeom prst="ellipse">
            <a:avLst/>
          </a:prstGeom>
          <a:solidFill>
            <a:srgbClr val="25D366"/>
          </a:solidFill>
          <a:ln/>
        </p:spPr>
      </p:sp>
      <p:sp>
        <p:nvSpPr>
          <p:cNvPr id="12" name="Text 9"/>
          <p:cNvSpPr/>
          <p:nvPr/>
        </p:nvSpPr>
        <p:spPr>
          <a:xfrm>
            <a:off x="27432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383280" y="3474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72hs el bot atiende tu WhatsApp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2286000" y="4114800"/>
            <a:ext cx="4572000" cy="640080"/>
          </a:xfrm>
          <a:prstGeom prst="rect">
            <a:avLst/>
          </a:prstGeom>
          <a:solidFill>
            <a:srgbClr val="25D366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286000" y="4114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EMPEZAR AHORA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Romo Motorsport - Propuesta Digital</dc:title>
  <dc:subject>PptxGenJS Presentation</dc:subject>
  <dc:creator>AutoAtencion BA</dc:creator>
  <cp:lastModifiedBy>AutoAtencion BA</cp:lastModifiedBy>
  <cp:revision>1</cp:revision>
  <dcterms:created xsi:type="dcterms:W3CDTF">2026-03-16T19:22:43Z</dcterms:created>
  <dcterms:modified xsi:type="dcterms:W3CDTF">2026-03-16T19:22:43Z</dcterms:modified>
</cp:coreProperties>
</file>